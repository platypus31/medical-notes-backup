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本頁對應筆記「值班從這裡連到疾病」的定位：症狀 → 鑑別 → 處置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助記：血流動力學 → 靜脈曲張 → 抗凝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對應筆記 danger callout 的處置順位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上消化道出血（UGIB）— 值班處置與證據回顧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/>
            </a:pPr>
            <a:r>
              <a:t>醫學學術三件套整合測試｜來源：泰叡 9症狀 vault</a:t>
            </a:r>
            <a:br/>
            <a:r>
              <a:t>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/>
            </a:pPr>
            <a:r>
              <a:t>大綱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臨床問題與範圍</a:t>
            </a:r>
          </a:p>
          <a:p>
            <a:pPr>
              <a:defRPr sz="1800"/>
            </a:pPr>
            <a:r>
              <a:t>鑑別診斷</a:t>
            </a:r>
          </a:p>
          <a:p>
            <a:pPr>
              <a:defRPr sz="1800"/>
            </a:pPr>
            <a:r>
              <a:t>初步處置</a:t>
            </a:r>
          </a:p>
          <a:p>
            <a:pPr>
              <a:defRPr sz="1800"/>
            </a:pPr>
            <a:r>
              <a:t>Take-Home</a:t>
            </a:r>
          </a:p>
          <a:p>
            <a:pPr>
              <a:defRPr sz="1800"/>
            </a:pPr>
            <a: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臨床問題與範圍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為什麼是 UGIB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內科值班最常見的消化道急症之一</a:t>
            </a:r>
          </a:p>
          <a:p>
            <a:pPr>
              <a:spcAft>
                <a:spcPts val="800"/>
              </a:spcAft>
              <a:defRPr sz="1800"/>
            </a:pPr>
            <a:r>
              <a:t>Treitz 韌帶以上（食道、胃、十二指腸）出血</a:t>
            </a:r>
          </a:p>
          <a:p>
            <a:pPr>
              <a:spcAft>
                <a:spcPts val="800"/>
              </a:spcAft>
              <a:defRPr sz="1800"/>
            </a:pPr>
            <a:r>
              <a:t>決策軸：靜脈曲張性 vs 非靜脈曲張性——用藥與預後分歧點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紅旗警訊（must-not-miss）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血流動力學不穩定：低血壓、心搏過速、姿勢性低血壓、Shock Index 上升</a:t>
            </a:r>
          </a:p>
          <a:p>
            <a:pPr>
              <a:spcAft>
                <a:spcPts val="800"/>
              </a:spcAft>
              <a:defRPr sz="1800"/>
            </a:pPr>
            <a:r>
              <a:t>食道靜脈曲張出血：肝硬化/酗酒背景、鮮血又快又急、死亡率高</a:t>
            </a:r>
          </a:p>
          <a:p>
            <a:pPr>
              <a:spcAft>
                <a:spcPts val="800"/>
              </a:spcAft>
              <a:defRPr sz="1800"/>
            </a:pPr>
            <a:r>
              <a:t>持續嘔鮮血/大量黑便＋生命徵象惡化＝活動性出血</a:t>
            </a:r>
          </a:p>
          <a:p>
            <a:pPr>
              <a:spcAft>
                <a:spcPts val="800"/>
              </a:spcAft>
              <a:defRPr sz="1800"/>
            </a:pPr>
            <a:r>
              <a:t>抗凝/抗血小板藥物＋凝血異常：先問藥物史</a:t>
            </a:r>
          </a:p>
          <a:p>
            <a:pPr>
              <a:spcAft>
                <a:spcPts val="800"/>
              </a:spcAft>
              <a:defRPr sz="1800"/>
            </a:pPr>
            <a:r>
              <a:t>主動脈-腸道廔管：AAA/人工血管史，「前哨少量出血」後可能大爆發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鑑別診斷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DDx 總表（依頻率與危險度）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4572000"/>
          <a:ext cx="78638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</a:tblGrid>
              <a:tr h="28956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疾病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支持特徵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rule-out 線索</a:t>
                      </a: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消化性潰瘍（最常見）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上腹痛、H. pylori/NSAID/類固醇史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內視鏡無潰瘍</a:t>
                      </a: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食道靜脈曲張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肝硬化、鮮血急促、腹水/脾腫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無肝病證據</a:t>
                      </a: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Mallory-Weiss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劇烈嘔吐後吐鮮血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無先吐後血病史</a:t>
                      </a: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糜爛性胃炎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NSAID/酗酒/重症壓力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內視鏡黏膜正常</a:t>
                      </a: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胃癌/惡性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體重減輕、慢性貧血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/>
                      </a:pPr>
                      <a:r>
                        <a:t>無警訊＋內視鏡陰性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顏色陷阱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黑便 ≈ UGIB，但右側大腸慢速出血也可能黑便</a:t>
            </a:r>
          </a:p>
          <a:p>
            <a:pPr>
              <a:spcAft>
                <a:spcPts val="800"/>
              </a:spcAft>
              <a:defRPr sz="1800"/>
            </a:pPr>
            <a:r>
              <a:t>鮮血便多為下消化道，但大量快速 UGIB 也會排鮮血</a:t>
            </a:r>
          </a:p>
          <a:p>
            <a:pPr>
              <a:spcAft>
                <a:spcPts val="800"/>
              </a:spcAft>
              <a:defRPr sz="1800"/>
            </a:pPr>
            <a:r>
              <a:t>不能只憑顏色定上下：血流動力學不穩＋鮮血便也要想 UGIB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初步處置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床邊第一步（先於內視鏡）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生命徵象＋建立 2 條大孔 IV</a:t>
            </a:r>
          </a:p>
          <a:p>
            <a:pPr>
              <a:spcAft>
                <a:spcPts val="800"/>
              </a:spcAft>
              <a:defRPr sz="1800"/>
            </a:pPr>
            <a:r>
              <a:t>抽血＋type &amp; cross</a:t>
            </a:r>
          </a:p>
          <a:p>
            <a:pPr>
              <a:spcAft>
                <a:spcPts val="800"/>
              </a:spcAft>
              <a:defRPr sz="1800"/>
            </a:pPr>
            <a:r>
              <a:t>不穩定先輸液/輸血，別等內視鏡</a:t>
            </a:r>
          </a:p>
          <a:p>
            <a:pPr>
              <a:spcAft>
                <a:spcPts val="800"/>
              </a:spcAft>
              <a:defRPr sz="1800"/>
            </a:pPr>
            <a:r>
              <a:t>靜脈曲張疑慮：及早內視鏡＋血管收縮劑＋抗生素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問診與理學重點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出血型態：嘔鮮血/咖啡渣/黑便/鮮血便與量</a:t>
            </a:r>
          </a:p>
          <a:p>
            <a:pPr>
              <a:spcAft>
                <a:spcPts val="800"/>
              </a:spcAft>
              <a:defRPr sz="1800"/>
            </a:pPr>
            <a:r>
              <a:t>關鍵病史：肝硬化、NSAID/aspirin、先吐後血、抗凝藥、體重下降</a:t>
            </a:r>
          </a:p>
          <a:p>
            <a:pPr>
              <a:spcAft>
                <a:spcPts val="800"/>
              </a:spcAft>
              <a:defRPr sz="1800"/>
            </a:pPr>
            <a:r>
              <a:t>理學：慢性肝病徵（蜘蛛痣、palmar erythema、腹水）、結膜蒼白</a:t>
            </a:r>
          </a:p>
          <a:p>
            <a:pPr>
              <a:spcAft>
                <a:spcPts val="800"/>
              </a:spcAft>
              <a:defRPr sz="1800"/>
            </a:pPr>
            <a:r>
              <a:t>DRE 確認糞便性狀（徵得同意）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Take-Home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三句話帶走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先穩生命徵象再談內視鏡：復甦優先</a:t>
            </a:r>
          </a:p>
          <a:p>
            <a:pPr>
              <a:spcAft>
                <a:spcPts val="800"/>
              </a:spcAft>
              <a:defRPr sz="1800"/>
            </a:pPr>
            <a:r>
              <a:t>靜脈曲張 vs 非靜脈曲張是用藥分水嶺</a:t>
            </a:r>
          </a:p>
          <a:p>
            <a:pPr>
              <a:spcAft>
                <a:spcPts val="800"/>
              </a:spcAft>
              <a:defRPr sz="1800"/>
            </a:pPr>
            <a:r>
              <a:t>顏色會騙人，血行動力學不會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References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來源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泰叡醫學 vault：9症狀/Upper GI bleeding（sources_reviewed 2026-07-03）</a:t>
            </a:r>
          </a:p>
          <a:p>
            <a:pPr>
              <a:spcAft>
                <a:spcPts val="800"/>
              </a:spcAft>
              <a:defRPr sz="1800"/>
            </a:pPr>
            <a:r>
              <a:t>本頁為整合測試產物；正式使用時由 /ebm 流程附 PMID/GRADE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